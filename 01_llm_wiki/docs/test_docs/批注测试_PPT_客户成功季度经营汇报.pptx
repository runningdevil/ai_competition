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omments/modernComment2.xml" ContentType="application/vnd.ms-powerpoint.comment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omments/modernComment3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97547dfc7e4534" /><Relationship Type="http://schemas.openxmlformats.org/officeDocument/2006/relationships/extended-properties" Target="/docProps/app.xml" Id="Ra71947cbaf024800" /><Relationship Type="http://schemas.openxmlformats.org/officeDocument/2006/relationships/officeDocument" Target="/ppt/presentation.xml" Id="R21100b3ddc7948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31b1ae6fb47e9"/>
  </p:sldMasterIdLst>
  <p:notesMasterIdLst>
    <p:notesMasterId xmlns:r="http://schemas.openxmlformats.org/officeDocument/2006/relationships" r:id="R9e90fbb41ddf46b6"/>
  </p:notesMasterIdLst>
  <p:sldIdLst>
    <p:sldId xmlns:r="http://schemas.openxmlformats.org/officeDocument/2006/relationships" id="256" r:id="R03ba892e42e143c1"/>
    <p:sldId xmlns:r="http://schemas.openxmlformats.org/officeDocument/2006/relationships" id="257" r:id="R6f5ab4ca8e50489e"/>
    <p:sldId xmlns:r="http://schemas.openxmlformats.org/officeDocument/2006/relationships" id="258" r:id="R4e50769afa5e4733"/>
    <p:sldId xmlns:r="http://schemas.openxmlformats.org/officeDocument/2006/relationships" id="259" r:id="R3c455c146a3442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40D9787F-D62D-4DE6-B13B-93CDF21F0429}" name="业务审阅人" initials="审"/>
  <p188:author id="{00CB83A9-B4F3-415A-AAF3-4CA85D130AB4}" name="张三" initials="张"/>
  <p188:author id="{D7C52972-A1EA-4C60-B912-B5AB82528CD1}" name="李四" initials="李"/>
  <p188:author id="{74375B59-281F-4B74-923F-84358716017B}" name="王五" initials="王"/>
  <p188:author id="{0D953564-51CA-4029-BC7A-3E9D038DBAE9}" name="赵六" initials="赵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bf03ff28a43f8" /><Relationship Type="http://schemas.openxmlformats.org/officeDocument/2006/relationships/slideMaster" Target="/ppt/slideMasters/slideMaster1.xml" Id="R0ed31b1ae6fb47e9" /><Relationship Type="http://schemas.openxmlformats.org/officeDocument/2006/relationships/notesMaster" Target="/ppt/notesMasters/notesMaster1.xml" Id="R9e90fbb41ddf46b6" /><Relationship Type="http://schemas.openxmlformats.org/officeDocument/2006/relationships/presProps" Target="/ppt/presProps.xml" Id="R808e0c209ceb45dd" /><Relationship Type="http://schemas.openxmlformats.org/officeDocument/2006/relationships/tableStyles" Target="/ppt/tableStyles.xml" Id="R12a7bfdcf0744f30" /><Relationship Type="http://schemas.microsoft.com/office/2018/10/relationships/authors" Target="/ppt/authors.xml" Id="Rbc2f70860eab4974" /><Relationship Type="http://schemas.openxmlformats.org/officeDocument/2006/relationships/slide" Target="/ppt/slides/slide1.xml" Id="R03ba892e42e143c1" /><Relationship Type="http://schemas.openxmlformats.org/officeDocument/2006/relationships/slide" Target="/ppt/slides/slide2.xml" Id="R6f5ab4ca8e50489e" /><Relationship Type="http://schemas.openxmlformats.org/officeDocument/2006/relationships/slide" Target="/ppt/slides/slide3.xml" Id="R4e50769afa5e4733" /><Relationship Type="http://schemas.openxmlformats.org/officeDocument/2006/relationships/slide" Target="/ppt/slides/slide4.xml" Id="R3c455c146a3442fe" /></Relationships>
</file>

<file path=ppt/comments/modernComment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2dmkgl" authorId="{00CB83A9-B4F3-415A-AAF3-4CA85D130AB4}" status="active" created="2026-07-16T17:20:00+08:00">
    <ns1:txMkLst>
      <ns2:docMk/>
      <ns2:sldMk cId="1624359288" sldId="257"/>
      <ns1:spMk id="5" creationId="{B0BFEC16-99E4-4A40-9250-7208D8D3D296}"/>
      <ns1:txMk cp="30" len="15"/>
    </ns1:txMkLst>
    <ns0:pos x="9906000" y="1143000"/>
    <ns0:txBody>
      <ns3:bodyPr/>
      <ns3:lstStyle/>
      <ns3:p>
        <ns3:r>
          <ns3:t>todo: 请把本页“续费率目标写为 92%”改为“续费率目标按 95% 追踪”，并在备注中说明财务确认收入口径?to: 张三,end_date:20261231</ns3:t>
        </ns3:r>
      </ns3:p>
    </ns0:txBody>
  </ns0:cm>
  <ns0:cm id="bguypf" authorId="{D7C52972-A1EA-4C60-B912-B5AB82528CD1}" status="active" created="2026-07-16T17:21:00+08:00">
    <ns1:txMkLst>
      <ns2:docMk/>
      <ns2:sldMk cId="1624359288" sldId="257"/>
      <ns1:spMk id="5" creationId="{B0BFEC16-99E4-4A40-9250-7208D8D3D296}"/>
      <ns1:txMk cp="74" len="6"/>
    </ns1:txMkLst>
    <ns0:pos x="9906000" y="1543050"/>
    <ns0:txBody>
      <ns3:bodyPr/>
      <ns3:lstStyle/>
      <ns3:p>
        <ns3:r>
          <ns3:t>todo: 请把“开源开发人员”统一改为“开源软件开发人员”?to: 李四,end_date:20261220</ns3:t>
        </ns3:r>
      </ns3:p>
    </ns0:txBody>
  </ns0:cm>
</ns0:cmLst>
</file>

<file path=ppt/comments/modernComment2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sorkui" authorId="{74375B59-281F-4B74-923F-84358716017B}" status="active" created="2026-07-17T17:22:00+08:00">
    <ns1:deMkLst>
      <ns2:docMk/>
      <ns2:sldMk cId="724032495" sldId="258"/>
      <ns1:spMk id="6" creationId="{9FF4363E-3EA0-48BE-A1C0-C1C6F91D511D}"/>
    </ns1:deMkLst>
    <ns0:pos x="9906000" y="1943100"/>
    <ns0:txBody>
      <ns3:bodyPr/>
      <ns3:lstStyle/>
      <ns3:p>
        <ns3:r>
          <ns3:t>请把“暂无统一策略”改为“每月批量触达 + CRM 回写”，并把责任人改为“客户运营组”</ns3:t>
        </ns3:r>
      </ns3:p>
    </ns0:txBody>
  </ns0:cm>
</ns0:cmLst>
</file>

<file path=ppt/comments/modernComment3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hh5bif" authorId="{0D953564-51CA-4029-BC7A-3E9D038DBAE9}" status="active" created="2026-07-18T17:23:00+08:00">
    <ns1:txMkLst>
      <ns2:docMk/>
      <ns2:sldMk cId="1226610949" sldId="259"/>
      <ns1:spMk id="7" creationId="{9192DC21-3E24-4608-A8E0-69079128AB54}"/>
      <ns1:txMk cp="50" len="10"/>
    </ns1:txMkLst>
    <ns0:pos x="9906000" y="2343150"/>
    <ns0:txBody>
      <ns3:bodyPr/>
      <ns3:lstStyle/>
      <ns3:p>
        <ns3:r>
          <ns3:t>todo: 请确认 2026-08-12 是否为真实承诺日期，如果不是请改成 PMO 确认后的日期?to: 王五,end_date:20260805</ns3:t>
        </ns3:r>
      </ns3:p>
    </ns0:txBody>
  </ns0:cm>
</ns0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38b688030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3829d6ee24dbf" /><Relationship Type="http://schemas.openxmlformats.org/officeDocument/2006/relationships/notesMaster" Target="/ppt/notesMasters/notesMaster1.xml" Id="R9aacb876114d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577ddb501451b" /><Relationship Type="http://schemas.openxmlformats.org/officeDocument/2006/relationships/notesMaster" Target="/ppt/notesMasters/notesMaster1.xml" Id="R272a9a675d8645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138f88f577460e" /><Relationship Type="http://schemas.openxmlformats.org/officeDocument/2006/relationships/notesMaster" Target="/ppt/notesMasters/notesMaster1.xml" Id="R950bd91b986b46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57461251a4e89" /><Relationship Type="http://schemas.openxmlformats.org/officeDocument/2006/relationships/notesMaster" Target="/ppt/notesMasters/notesMaster1.xml" Id="R972d804b4238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0bea9ed91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a2ecf95a04499f" /><Relationship Type="http://schemas.openxmlformats.org/officeDocument/2006/relationships/slideLayout" Target="/ppt/slideLayouts/slideLayout1.xml" Id="R7acc0e2d66534d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cc0e2d66534d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7a644d4a4e60" /><Relationship Type="http://schemas.openxmlformats.org/officeDocument/2006/relationships/notesSlide" Target="/ppt/notesSlides/notesSlide1.xml" Id="Ra71c5507f0fb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f38aeeb47402f" /><Relationship Type="http://schemas.openxmlformats.org/officeDocument/2006/relationships/notesSlide" Target="/ppt/notesSlides/notesSlide2.xml" Id="R37384ecd3cfd4895" /><Relationship Type="http://schemas.microsoft.com/office/2018/10/relationships/comments" Target="/ppt/comments/modernComment.xml" Id="R3de285fa3514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a5f709c07403e" /><Relationship Type="http://schemas.openxmlformats.org/officeDocument/2006/relationships/notesSlide" Target="/ppt/notesSlides/notesSlide3.xml" Id="Rf06005ea8b7b4baf" /><Relationship Type="http://schemas.microsoft.com/office/2018/10/relationships/comments" Target="/ppt/comments/modernComment2.xml" Id="R66b50b12ef14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05cd076249f8" /><Relationship Type="http://schemas.openxmlformats.org/officeDocument/2006/relationships/notesSlide" Target="/ppt/notesSlides/notesSlide4.xml" Id="R6c1122f155c54e09" /><Relationship Type="http://schemas.microsoft.com/office/2018/10/relationships/comments" Target="/ppt/comments/modernComment3.xml" Id="R97ce746288d645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91A28B3-56D6-4136-94FD-36B1660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客户成功部 | Q3 经营复盘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A4E3823-04E9-49C0-ADD6-60D2A2BF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续费风险已经前移到价值确认阶段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75BEC2-0BAC-4658-88A8-16FF2F7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本汇报用于对齐续费目标、客户分层和下月运营动作。</a:t>
            </a:r>
          </a:p>
        </p:txBody>
      </p:sp>
      <p:sp>
        <p:nvSpPr>
          <p:cNvPr id="4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5C0BB238-3720-4732-8473-3430669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30289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494A8BB6-E730-4D53-A71D-59F3E8E8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53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部门: 客户成功部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版本: V1.0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日期: 2026-07-14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范围: KA 客户续费运营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A6443F6B-D59D-43C4-8A73-1D1285F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0254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8901949C-588F-4A6A-827F-FB3949E5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现状判断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3ADFE8F-7C9E-499E-B865-5506E6C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续费不是单点动作，而是持续价值确认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F20D9F51-751E-4939-917D-8929230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19692D2-4D10-41F8-A32A-5EF13F1C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situation-body">
            <a:extLst xmlns:a="http://schemas.openxmlformats.org/drawingml/2006/main">
              <a:ext uri="{FF2B5EF4-FFF2-40B4-BE49-F238E27FC236}">
                <a16:creationId xmlns:a16="http://schemas.microsoft.com/office/drawing/2014/main" id="{B0BFEC16-99E4-4A40-9250-7208D8D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本季度团队完成 21 场 QBR，识别 13 家高风险客户。核心客户续费率目标写为 92%，但财务口径建议按 95% 进行经营追踪。社区共建仍使用“开源开发人员”称呼，需要统一为正式角色名称。</a:t>
            </a:r>
          </a:p>
        </p:txBody>
      </p:sp>
      <p:sp>
        <p:nvSpPr>
          <p:cNvPr id="6" name="kpi-QBR 完成率">
            <a:extLst xmlns:a="http://schemas.openxmlformats.org/drawingml/2006/main">
              <a:ext uri="{FF2B5EF4-FFF2-40B4-BE49-F238E27FC236}">
                <a16:creationId xmlns:a16="http://schemas.microsoft.com/office/drawing/2014/main" id="{7F3CEFAC-EFB3-4DEF-91A6-8C8F2F5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kpi-label-QBR 完成率">
            <a:extLst xmlns:a="http://schemas.openxmlformats.org/drawingml/2006/main">
              <a:ext uri="{FF2B5EF4-FFF2-40B4-BE49-F238E27FC236}">
                <a16:creationId xmlns:a16="http://schemas.microsoft.com/office/drawing/2014/main" id="{B3E3A9E5-0B17-49DF-A8B6-4DC7643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QBR 完成率</a:t>
            </a:r>
          </a:p>
        </p:txBody>
      </p:sp>
      <p:sp>
        <p:nvSpPr>
          <p:cNvPr id="8" name="kpi-value-QBR 完成率">
            <a:extLst xmlns:a="http://schemas.openxmlformats.org/drawingml/2006/main">
              <a:ext uri="{FF2B5EF4-FFF2-40B4-BE49-F238E27FC236}">
                <a16:creationId xmlns:a16="http://schemas.microsoft.com/office/drawing/2014/main" id="{A838BD4A-B7D1-4BC2-BDE4-FCD3B3B2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78%</a:t>
            </a:r>
          </a:p>
        </p:txBody>
      </p:sp>
      <p:sp>
        <p:nvSpPr>
          <p:cNvPr id="9" name="kpi-note-QBR 完成率">
            <a:extLst xmlns:a="http://schemas.openxmlformats.org/drawingml/2006/main">
              <a:ext uri="{FF2B5EF4-FFF2-40B4-BE49-F238E27FC236}">
                <a16:creationId xmlns:a16="http://schemas.microsoft.com/office/drawing/2014/main" id="{DE269BB5-F545-4373-9CD7-0EE338B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仍有 6 家待约</a:t>
            </a:r>
          </a:p>
        </p:txBody>
      </p:sp>
      <p:sp>
        <p:nvSpPr>
          <p:cNvPr id="10" name="kpi-高风险客户">
            <a:extLst xmlns:a="http://schemas.openxmlformats.org/drawingml/2006/main">
              <a:ext uri="{FF2B5EF4-FFF2-40B4-BE49-F238E27FC236}">
                <a16:creationId xmlns:a16="http://schemas.microsoft.com/office/drawing/2014/main" id="{96BD5BD6-A855-4FDA-9CC9-C28E957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kpi-label-高风险客户">
            <a:extLst xmlns:a="http://schemas.openxmlformats.org/drawingml/2006/main">
              <a:ext uri="{FF2B5EF4-FFF2-40B4-BE49-F238E27FC236}">
                <a16:creationId xmlns:a16="http://schemas.microsoft.com/office/drawing/2014/main" id="{281C3CA3-1AC1-4631-894C-DC62DBB5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高风险客户</a:t>
            </a:r>
          </a:p>
        </p:txBody>
      </p:sp>
      <p:sp>
        <p:nvSpPr>
          <p:cNvPr id="12" name="kpi-value-高风险客户">
            <a:extLst xmlns:a="http://schemas.openxmlformats.org/drawingml/2006/main">
              <a:ext uri="{FF2B5EF4-FFF2-40B4-BE49-F238E27FC236}">
                <a16:creationId xmlns:a16="http://schemas.microsoft.com/office/drawing/2014/main" id="{FF20C718-AF3A-46C5-93BA-D31B37E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13 家</a:t>
            </a:r>
          </a:p>
        </p:txBody>
      </p:sp>
      <p:sp>
        <p:nvSpPr>
          <p:cNvPr id="13" name="kpi-note-高风险客户">
            <a:extLst xmlns:a="http://schemas.openxmlformats.org/drawingml/2006/main">
              <a:ext uri="{FF2B5EF4-FFF2-40B4-BE49-F238E27FC236}">
                <a16:creationId xmlns:a16="http://schemas.microsoft.com/office/drawing/2014/main" id="{1B8E0B3B-8B95-4859-AD8F-3E8E066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制造业占 46%</a:t>
            </a:r>
          </a:p>
        </p:txBody>
      </p:sp>
      <p:sp>
        <p:nvSpPr>
          <p:cNvPr id="14" name="kpi-预测续费额">
            <a:extLst xmlns:a="http://schemas.openxmlformats.org/drawingml/2006/main">
              <a:ext uri="{FF2B5EF4-FFF2-40B4-BE49-F238E27FC236}">
                <a16:creationId xmlns:a16="http://schemas.microsoft.com/office/drawing/2014/main" id="{F5CBEAC4-21D6-4597-A3EA-57BB4285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kpi-label-预测续费额">
            <a:extLst xmlns:a="http://schemas.openxmlformats.org/drawingml/2006/main">
              <a:ext uri="{FF2B5EF4-FFF2-40B4-BE49-F238E27FC236}">
                <a16:creationId xmlns:a16="http://schemas.microsoft.com/office/drawing/2014/main" id="{083909B1-67D4-46F3-B9C4-70BB1E7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预测续费额</a:t>
            </a:r>
          </a:p>
        </p:txBody>
      </p:sp>
      <p:sp>
        <p:nvSpPr>
          <p:cNvPr id="16" name="kpi-value-预测续费额">
            <a:extLst xmlns:a="http://schemas.openxmlformats.org/drawingml/2006/main">
              <a:ext uri="{FF2B5EF4-FFF2-40B4-BE49-F238E27FC236}">
                <a16:creationId xmlns:a16="http://schemas.microsoft.com/office/drawing/2014/main" id="{855CECAA-3AC1-4C37-93C6-EB62549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438 万</a:t>
            </a:r>
          </a:p>
        </p:txBody>
      </p:sp>
      <p:sp>
        <p:nvSpPr>
          <p:cNvPr id="17" name="kpi-note-预测续费额">
            <a:extLst xmlns:a="http://schemas.openxmlformats.org/drawingml/2006/main">
              <a:ext uri="{FF2B5EF4-FFF2-40B4-BE49-F238E27FC236}">
                <a16:creationId xmlns:a16="http://schemas.microsoft.com/office/drawing/2014/main" id="{D2E73BA1-A575-48B7-8BAB-6D3C826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含待回款</a:t>
            </a:r>
          </a:p>
        </p:txBody>
      </p:sp>
    </p:spTree>
    <p:extLst>
      <p:ext uri="{BB962C8B-B14F-4D97-AF65-F5344CB8AC3E}">
        <p14:creationId xmlns:p14="http://schemas.microsoft.com/office/powerpoint/2010/main" val="1624359288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3de285fa351440a5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7EB04FCF-9495-448B-AF8E-B489FBC7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证据与口径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DC74A0F-8ADB-4613-9C1B-6FF9E1B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客户分层和运营动作需要补齐长尾策略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4DCFFAC9-F71E-4BDA-8363-9AD269A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04ADD78-3CAC-4932-88E4-669EBF8E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evidence-table-caption">
            <a:extLst xmlns:a="http://schemas.openxmlformats.org/drawingml/2006/main">
              <a:ext uri="{FF2B5EF4-FFF2-40B4-BE49-F238E27FC236}">
                <a16:creationId xmlns:a16="http://schemas.microsoft.com/office/drawing/2014/main" id="{DB8F3702-C12F-47FC-9EEA-8662D71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续费运营台账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381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客户层级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当前动作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风险提示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 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逐户 QBR + 高管沟通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张三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价值确认周期长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B 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月度健康检查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李四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培训材料不足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长尾客户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暂无统一策略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待定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触达频率低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032495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66b50b12ef1446fe"/>
    </p:ext>
  </p:extLs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EE065240-D0C7-41F2-8686-AA0228BC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行动计划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E2C1A36-76B9-43A0-8C07-BBB0E0B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下月先统一口径，再推进分层运营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EEAB55F-71E5-472B-97EB-49157CF0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69BD5E5-2C46-4180-87D5-0849A40D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action-left">
            <a:extLst xmlns:a="http://schemas.openxmlformats.org/drawingml/2006/main">
              <a:ext uri="{FF2B5EF4-FFF2-40B4-BE49-F238E27FC236}">
                <a16:creationId xmlns:a16="http://schemas.microsoft.com/office/drawing/2014/main" id="{9572CDF3-AA8F-4A10-82F9-BBFAE55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第一步修正续费率口径和角色称呼；第二步在台账中增加 C 类客户运营策略；第三步每周复盘风险客户状态。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DE75529B-52AD-4882-BEFC-38A2AF8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819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tion-right">
            <a:extLst xmlns:a="http://schemas.openxmlformats.org/drawingml/2006/main">
              <a:ext uri="{FF2B5EF4-FFF2-40B4-BE49-F238E27FC236}">
                <a16:creationId xmlns:a16="http://schemas.microsoft.com/office/drawing/2014/main" id="{9192DC21-3E24-4608-A8E0-69079128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71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建议把 C 类客户定义为长尾客户，由客户运营组每月批量触达，并将结果回写 CRM。截止日期建议放在 2026-08-12。</a:t>
            </a:r>
          </a:p>
        </p:txBody>
      </p:sp>
    </p:spTree>
    <p:extLst>
      <p:ext uri="{BB962C8B-B14F-4D97-AF65-F5344CB8AC3E}">
        <p14:creationId xmlns:p14="http://schemas.microsoft.com/office/powerpoint/2010/main" val="1226610949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97ce746288d6452e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2026-07-14T07:58:13.1800000Z</dcterms:created>
  <dcterms:modified xsi:type="dcterms:W3CDTF">2026-07-14T07:58:13.1800000Z</dcterms:modified>
</coreProperties>
</file>